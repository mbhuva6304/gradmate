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5" r:id="rId1"/>
  </p:sldMasterIdLst>
  <p:notesMasterIdLst>
    <p:notesMasterId r:id="rId15"/>
  </p:notesMasterIdLst>
  <p:sldIdLst>
    <p:sldId id="256" r:id="rId2"/>
    <p:sldId id="261" r:id="rId3"/>
    <p:sldId id="263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5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88"/>
  </p:normalViewPr>
  <p:slideViewPr>
    <p:cSldViewPr snapToGrid="0">
      <p:cViewPr varScale="1">
        <p:scale>
          <a:sx n="116" d="100"/>
          <a:sy n="116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F9F85-FD53-0D45-8BDB-6DBE0BE80B5F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8B478-246A-E749-AA1B-4DBA7B8A6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18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E8B478-246A-E749-AA1B-4DBA7B8A61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35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E8B478-246A-E749-AA1B-4DBA7B8A61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27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6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740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81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3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5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2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94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8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20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111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917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94" r:id="rId6"/>
    <p:sldLayoutId id="2147483789" r:id="rId7"/>
    <p:sldLayoutId id="2147483790" r:id="rId8"/>
    <p:sldLayoutId id="2147483791" r:id="rId9"/>
    <p:sldLayoutId id="2147483793" r:id="rId10"/>
    <p:sldLayoutId id="21474837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1813E-39A7-F885-152B-23E3C9C92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85216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cs typeface="Times New Roman" panose="02020603050405020304" pitchFamily="18" charset="0"/>
              </a:rPr>
              <a:t>Gradmate</a:t>
            </a:r>
            <a:br>
              <a:rPr lang="en-US" sz="4000" dirty="0">
                <a:cs typeface="Times New Roman" panose="02020603050405020304" pitchFamily="18" charset="0"/>
              </a:rPr>
            </a:br>
            <a:r>
              <a:rPr lang="en-US" sz="2000" b="0" dirty="0">
                <a:cs typeface="Times New Roman" panose="02020603050405020304" pitchFamily="18" charset="0"/>
              </a:rPr>
              <a:t>COMP 491: Senior Project II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6DAC3268-4203-EEF6-D062-3E37C59EB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2633236"/>
            <a:ext cx="5852160" cy="366468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b="0" dirty="0">
                <a:cs typeface="Times New Roman" panose="02020603050405020304" pitchFamily="18" charset="0"/>
              </a:rPr>
              <a:t>Team: Manan Bhuva</a:t>
            </a:r>
            <a:br>
              <a:rPr lang="en-US" b="0" dirty="0">
                <a:cs typeface="Times New Roman" panose="02020603050405020304" pitchFamily="18" charset="0"/>
              </a:rPr>
            </a:br>
            <a:r>
              <a:rPr lang="en-US" b="0" dirty="0">
                <a:cs typeface="Times New Roman" panose="02020603050405020304" pitchFamily="18" charset="0"/>
              </a:rPr>
              <a:t>	Zeel Kukadiya</a:t>
            </a:r>
            <a:br>
              <a:rPr lang="en-US" b="0" dirty="0">
                <a:cs typeface="Times New Roman" panose="02020603050405020304" pitchFamily="18" charset="0"/>
              </a:rPr>
            </a:br>
            <a:r>
              <a:rPr lang="en-US" b="0" dirty="0">
                <a:cs typeface="Times New Roman" panose="02020603050405020304" pitchFamily="18" charset="0"/>
              </a:rPr>
              <a:t>	Rudra khunt</a:t>
            </a:r>
            <a:br>
              <a:rPr lang="en-US" b="0" dirty="0">
                <a:cs typeface="Times New Roman" panose="02020603050405020304" pitchFamily="18" charset="0"/>
              </a:rPr>
            </a:br>
            <a:r>
              <a:rPr lang="en-US" b="0" dirty="0">
                <a:cs typeface="Times New Roman" panose="02020603050405020304" pitchFamily="18" charset="0"/>
              </a:rPr>
              <a:t>	Urvish Devani</a:t>
            </a:r>
            <a:br>
              <a:rPr lang="en-US" b="0" dirty="0">
                <a:cs typeface="Times New Roman" panose="02020603050405020304" pitchFamily="18" charset="0"/>
              </a:rPr>
            </a:br>
            <a:r>
              <a:rPr lang="en-US" b="0" dirty="0">
                <a:cs typeface="Times New Roman" panose="02020603050405020304" pitchFamily="18" charset="0"/>
              </a:rPr>
              <a:t>	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B323AC-7DA9-F5C4-0D15-2298BC9027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00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6B84E2-8112-A645-307C-B15FDBD4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sz="4000" dirty="0">
                <a:cs typeface="Times New Roman" panose="02020603050405020304" pitchFamily="18" charset="0"/>
              </a:rP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DEA47-3A62-BCA8-7327-83713DB30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600" dirty="0"/>
              <a:t>Students manually cross-reference DPR PDFs to track graduation progress</a:t>
            </a:r>
          </a:p>
          <a:p>
            <a:pPr marL="342900" indent="-342900">
              <a:buFont typeface="Arial"/>
              <a:buChar char="•"/>
            </a:pPr>
            <a:r>
              <a:rPr lang="en-US" sz="1600" dirty="0"/>
              <a:t>Courses double-count across requirement blocks — causing confusion</a:t>
            </a:r>
          </a:p>
          <a:p>
            <a:pPr marL="342900" indent="-342900">
              <a:buFont typeface="Arial"/>
              <a:buChar char="•"/>
            </a:pPr>
            <a:r>
              <a:rPr lang="en-US" sz="1600" dirty="0"/>
              <a:t>Planning future semesters with prerequisites &amp; unit loads is complex</a:t>
            </a:r>
          </a:p>
          <a:p>
            <a:pPr marL="342900" indent="-342900">
              <a:buFont typeface="Arial"/>
              <a:buChar char="•"/>
            </a:pPr>
            <a:r>
              <a:rPr lang="en-US" sz="1600" dirty="0"/>
              <a:t>International students unfamiliar with GE, UDGE, catalog year, DPR concepts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89D8F3A-CD18-3B01-12A3-972151F16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689" y="4529793"/>
            <a:ext cx="3496347" cy="15775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1E8E53-C110-9BB2-F416-2480A4AC0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742" y="1538942"/>
            <a:ext cx="3496347" cy="29908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D44666-9412-DA28-C10A-351217238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5058557"/>
            <a:ext cx="4006669" cy="179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66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DEB6A-C233-BE3D-BA4F-2EFC36F7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sz="4000" dirty="0">
                <a:cs typeface="Times New Roman" panose="02020603050405020304" pitchFamily="18" charset="0"/>
              </a:rPr>
              <a:t>What is Gradmate?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5A81C-C9BE-7D4D-A845-59D14713F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2984500"/>
          </a:xfrm>
        </p:spPr>
        <p:txBody>
          <a:bodyPr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600" dirty="0"/>
              <a:t>Django-based web app for CSUN CS students</a:t>
            </a:r>
          </a:p>
          <a:p>
            <a:pPr marL="342900" indent="-342900">
              <a:buFont typeface="Arial"/>
              <a:buChar char="•"/>
            </a:pPr>
            <a:r>
              <a:rPr lang="en-US" sz="1600" dirty="0"/>
              <a:t>Upload your DPR PDF → auto-populate completed courses</a:t>
            </a:r>
          </a:p>
          <a:p>
            <a:pPr marL="342900" indent="-342900">
              <a:buFont typeface="Arial"/>
              <a:buChar char="•"/>
            </a:pPr>
            <a:r>
              <a:rPr lang="en-US" sz="1600" dirty="0"/>
              <a:t>See real-time degree audit across all requirement blocks</a:t>
            </a:r>
          </a:p>
          <a:p>
            <a:pPr marL="342900" indent="-342900">
              <a:buFont typeface="Arial"/>
              <a:buChar char="•"/>
            </a:pPr>
            <a:r>
              <a:rPr lang="en-US" sz="1600" dirty="0"/>
              <a:t>Build a semester plan with auto-suggestions &amp; prerequisite enforcement</a:t>
            </a:r>
          </a:p>
          <a:p>
            <a:pPr marL="342900" indent="-342900">
              <a:buFont typeface="Arial"/>
              <a:buChar char="•"/>
            </a:pPr>
            <a:r>
              <a:rPr lang="en-US" sz="1600" dirty="0"/>
              <a:t>Estimates your graduation term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E1F53E9-0BD3-284A-8C76-64AA7D437DAE}"/>
              </a:ext>
            </a:extLst>
          </p:cNvPr>
          <p:cNvSpPr/>
          <p:nvPr/>
        </p:nvSpPr>
        <p:spPr>
          <a:xfrm>
            <a:off x="1905000" y="5969000"/>
            <a:ext cx="2286000" cy="508000"/>
          </a:xfrm>
          <a:prstGeom prst="roundRect">
            <a:avLst/>
          </a:prstGeom>
          <a:solidFill>
            <a:srgbClr val="0D5A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DPR PDF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30C1D45A-52BE-2D45-829E-5369BE541C50}"/>
              </a:ext>
            </a:extLst>
          </p:cNvPr>
          <p:cNvSpPr/>
          <p:nvPr/>
        </p:nvSpPr>
        <p:spPr>
          <a:xfrm>
            <a:off x="4318000" y="6070600"/>
            <a:ext cx="508000" cy="304800"/>
          </a:xfrm>
          <a:prstGeom prst="rightArrow">
            <a:avLst/>
          </a:prstGeom>
          <a:solidFill>
            <a:srgbClr val="0D6B5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1D1E20-3F49-AF40-AEF5-0DDD992DAB65}"/>
              </a:ext>
            </a:extLst>
          </p:cNvPr>
          <p:cNvSpPr/>
          <p:nvPr/>
        </p:nvSpPr>
        <p:spPr>
          <a:xfrm>
            <a:off x="4953000" y="5969000"/>
            <a:ext cx="2286000" cy="508000"/>
          </a:xfrm>
          <a:prstGeom prst="roundRect">
            <a:avLst/>
          </a:prstGeom>
          <a:solidFill>
            <a:srgbClr val="0D1C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Gradmate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520C9F62-0E8C-0A4D-8212-73AED791D55B}"/>
              </a:ext>
            </a:extLst>
          </p:cNvPr>
          <p:cNvSpPr/>
          <p:nvPr/>
        </p:nvSpPr>
        <p:spPr>
          <a:xfrm>
            <a:off x="7366000" y="6070600"/>
            <a:ext cx="508000" cy="304800"/>
          </a:xfrm>
          <a:prstGeom prst="rightArrow">
            <a:avLst/>
          </a:prstGeom>
          <a:solidFill>
            <a:srgbClr val="0D6B5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E04AB2A-8708-8E4C-8002-EEC55C910B8E}"/>
              </a:ext>
            </a:extLst>
          </p:cNvPr>
          <p:cNvSpPr/>
          <p:nvPr/>
        </p:nvSpPr>
        <p:spPr>
          <a:xfrm>
            <a:off x="8001000" y="5969000"/>
            <a:ext cx="2286000" cy="508000"/>
          </a:xfrm>
          <a:prstGeom prst="roundRect">
            <a:avLst/>
          </a:prstGeom>
          <a:solidFill>
            <a:srgbClr val="0D5A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Graduation Plan</a:t>
            </a:r>
          </a:p>
        </p:txBody>
      </p:sp>
    </p:spTree>
    <p:extLst>
      <p:ext uri="{BB962C8B-B14F-4D97-AF65-F5344CB8AC3E}">
        <p14:creationId xmlns:p14="http://schemas.microsoft.com/office/powerpoint/2010/main" val="3558339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9B06F2-9A33-D870-7627-870ED3F2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116EA71-6DEE-E7D8-CB6F-391A137DE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48AC3-7F83-5F58-ADDA-BF2D413F7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Architecture Overview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ADCB35-B14D-CCA2-FE2E-395C5F652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E765480-7CEF-AF6D-0D89-DC25FA854852}"/>
              </a:ext>
            </a:extLst>
          </p:cNvPr>
          <p:cNvSpPr/>
          <p:nvPr/>
        </p:nvSpPr>
        <p:spPr>
          <a:xfrm>
            <a:off x="825500" y="2849880"/>
            <a:ext cx="3302000" cy="2540000"/>
          </a:xfrm>
          <a:prstGeom prst="roundRect">
            <a:avLst/>
          </a:prstGeom>
          <a:solidFill>
            <a:srgbClr val="0D5A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116BC4-54EE-A7F5-BADF-25A1A249F3D2}"/>
              </a:ext>
            </a:extLst>
          </p:cNvPr>
          <p:cNvSpPr txBox="1"/>
          <p:nvPr/>
        </p:nvSpPr>
        <p:spPr>
          <a:xfrm>
            <a:off x="1016000" y="3040380"/>
            <a:ext cx="2921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Data Model &amp;
Requirement Engine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2795F4-23C2-4648-C65F-2A0C9FC76807}"/>
              </a:ext>
            </a:extLst>
          </p:cNvPr>
          <p:cNvSpPr txBox="1"/>
          <p:nvPr/>
        </p:nvSpPr>
        <p:spPr>
          <a:xfrm>
            <a:off x="1016000" y="3865880"/>
            <a:ext cx="2921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FFFFFF"/>
                </a:solidFill>
              </a:rPr>
              <a:t>15-model SQLite schema
Rules stored as DB records
No hardcoded logic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0EE2D9E-BEF2-B0E2-214B-8B5C72486C46}"/>
              </a:ext>
            </a:extLst>
          </p:cNvPr>
          <p:cNvSpPr/>
          <p:nvPr/>
        </p:nvSpPr>
        <p:spPr>
          <a:xfrm>
            <a:off x="4445000" y="2849880"/>
            <a:ext cx="3302000" cy="2540000"/>
          </a:xfrm>
          <a:prstGeom prst="roundRect">
            <a:avLst/>
          </a:prstGeom>
          <a:solidFill>
            <a:srgbClr val="0D6B5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22D953-83AD-1213-E5FB-C6C551EB0565}"/>
              </a:ext>
            </a:extLst>
          </p:cNvPr>
          <p:cNvSpPr txBox="1"/>
          <p:nvPr/>
        </p:nvSpPr>
        <p:spPr>
          <a:xfrm>
            <a:off x="4635500" y="3040380"/>
            <a:ext cx="2921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Recommendation
Engine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80548A-FDE3-F36A-94A8-0D60B0CA2331}"/>
              </a:ext>
            </a:extLst>
          </p:cNvPr>
          <p:cNvSpPr txBox="1"/>
          <p:nvPr/>
        </p:nvSpPr>
        <p:spPr>
          <a:xfrm>
            <a:off x="4635500" y="3865880"/>
            <a:ext cx="2921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Scores courses by urgency,
prerequisites, term availability,
UDGE timing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8231F33-2C4F-21F5-A7F2-4E68E080C863}"/>
              </a:ext>
            </a:extLst>
          </p:cNvPr>
          <p:cNvSpPr/>
          <p:nvPr/>
        </p:nvSpPr>
        <p:spPr>
          <a:xfrm>
            <a:off x="8064500" y="2849880"/>
            <a:ext cx="3302000" cy="2540000"/>
          </a:xfrm>
          <a:prstGeom prst="roundRect">
            <a:avLst/>
          </a:prstGeom>
          <a:solidFill>
            <a:srgbClr val="6B3A7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4E445D-59B8-EB4E-4F06-D14AE43DF1F7}"/>
              </a:ext>
            </a:extLst>
          </p:cNvPr>
          <p:cNvSpPr txBox="1"/>
          <p:nvPr/>
        </p:nvSpPr>
        <p:spPr>
          <a:xfrm>
            <a:off x="8255000" y="3040380"/>
            <a:ext cx="2921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Interface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041B75-717B-5846-C597-484DB610EF57}"/>
              </a:ext>
            </a:extLst>
          </p:cNvPr>
          <p:cNvSpPr txBox="1"/>
          <p:nvPr/>
        </p:nvSpPr>
        <p:spPr>
          <a:xfrm>
            <a:off x="8255000" y="3865880"/>
            <a:ext cx="2921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FFFFFF"/>
                </a:solidFill>
              </a:rPr>
              <a:t>Dashboard, Audit,
Degree Plan (AJAX),
Course Catalog</a:t>
            </a:r>
          </a:p>
        </p:txBody>
      </p:sp>
    </p:spTree>
    <p:extLst>
      <p:ext uri="{BB962C8B-B14F-4D97-AF65-F5344CB8AC3E}">
        <p14:creationId xmlns:p14="http://schemas.microsoft.com/office/powerpoint/2010/main" val="250655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1646A-3E52-3CE1-3C3B-861A21A34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210ABA-BCE1-F021-E6CE-C1A4083C9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9E9A9-0213-229C-B36F-1893277CC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Tech Stack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A9E12B-C4B4-8138-853B-27F4E1CB4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7D2D22-770A-A42F-FCB9-F1CA60386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337319"/>
              </p:ext>
            </p:extLst>
          </p:nvPr>
        </p:nvGraphicFramePr>
        <p:xfrm>
          <a:off x="1651000" y="2786380"/>
          <a:ext cx="8890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09838697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197153584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anchor="ctr">
                    <a:solidFill>
                      <a:srgbClr val="0D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anchor="ctr">
                    <a:solidFill>
                      <a:srgbClr val="0D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275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Backend</a:t>
                      </a:r>
                    </a:p>
                  </a:txBody>
                  <a:tcPr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D1C3B"/>
                          </a:solidFill>
                        </a:rPr>
                        <a:t>Python 3, Django 4+</a:t>
                      </a:r>
                    </a:p>
                  </a:txBody>
                  <a:tcPr anchor="ctr">
                    <a:solidFill>
                      <a:srgbClr val="F5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50603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Frontend</a:t>
                      </a:r>
                    </a:p>
                  </a:txBody>
                  <a:tcPr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D1C3B"/>
                          </a:solidFill>
                        </a:rPr>
                        <a:t>Django Templates, Tailwind CSS, Vanilla JS (AJAX)</a:t>
                      </a:r>
                    </a:p>
                  </a:txBody>
                  <a:tcPr anchor="ctr">
                    <a:solidFill>
                      <a:srgbClr val="F5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38903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Database</a:t>
                      </a:r>
                    </a:p>
                  </a:txBody>
                  <a:tcPr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D1C3B"/>
                          </a:solidFill>
                        </a:rPr>
                        <a:t>SQLite (15 models)</a:t>
                      </a:r>
                    </a:p>
                  </a:txBody>
                  <a:tcPr anchor="ctr">
                    <a:solidFill>
                      <a:srgbClr val="F5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02949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PDF Parsing</a:t>
                      </a:r>
                    </a:p>
                  </a:txBody>
                  <a:tcPr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D1C3B"/>
                          </a:solidFill>
                        </a:rPr>
                        <a:t>PyPDF2</a:t>
                      </a:r>
                    </a:p>
                  </a:txBody>
                  <a:tcPr anchor="ctr">
                    <a:solidFill>
                      <a:srgbClr val="F5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81059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Auth</a:t>
                      </a:r>
                    </a:p>
                  </a:txBody>
                  <a:tcPr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D1C3B"/>
                          </a:solidFill>
                        </a:rPr>
                        <a:t>Custom email backend + OTP tokens</a:t>
                      </a:r>
                    </a:p>
                  </a:txBody>
                  <a:tcPr anchor="ctr">
                    <a:solidFill>
                      <a:srgbClr val="F5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49010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E8E5ED8-137E-231F-56A7-5F64F3668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866" y="3522516"/>
            <a:ext cx="885825" cy="885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EDB229-B470-23B5-6544-EFE4B1E47A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89" t="23036"/>
          <a:stretch>
            <a:fillRect/>
          </a:stretch>
        </p:blipFill>
        <p:spPr>
          <a:xfrm>
            <a:off x="10889102" y="4558017"/>
            <a:ext cx="1074543" cy="8613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E54585-E223-E74D-A303-379BBDF8F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269" y="5899432"/>
            <a:ext cx="1750195" cy="8276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9BB4D13-E8A6-E55F-F631-C50BD6E1D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3662" y="5865760"/>
            <a:ext cx="750569" cy="86136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E286D9B-6703-4792-3F59-D88BF63E80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4249" y="6096952"/>
            <a:ext cx="1431029" cy="4984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EDE7BCE-2138-9568-344A-85C26CE639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91569" y="5392111"/>
            <a:ext cx="900431" cy="75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1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FD1B05-D074-F534-1A55-4F6562345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8F1D359-D3E4-25E7-E625-12F3D08E9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AB99CE-753E-BE3E-F2AF-7E85A270F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Key Features: Auth &amp; Onboarding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2CA7A1-E9C2-3B1D-ED2F-3477BD199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A48BBA-9EF1-644A-EC33-D13E5E10A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3048000"/>
          </a:xfrm>
        </p:spPr>
        <p:txBody>
          <a:bodyPr>
            <a:normAutofit/>
          </a:bodyPr>
          <a:lstStyle/>
          <a:p>
            <a:r>
              <a:rPr lang="en-US" sz="1600" dirty="0"/>
              <a:t>Email signup with OTP verification
Profile setup: program, catalog year, credit load target
DPR PDF upload → auto-populates completed &amp; in-progress courses
Missing catalog courses auto-created on import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1F6EF08-56BD-7C71-E85E-4441DB2FD936}"/>
              </a:ext>
            </a:extLst>
          </p:cNvPr>
          <p:cNvSpPr/>
          <p:nvPr/>
        </p:nvSpPr>
        <p:spPr>
          <a:xfrm>
            <a:off x="1663700" y="5943600"/>
            <a:ext cx="1778000" cy="457200"/>
          </a:xfrm>
          <a:prstGeom prst="roundRect">
            <a:avLst/>
          </a:prstGeom>
          <a:solidFill>
            <a:srgbClr val="0D5A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Signup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F095F6E-3092-5C0C-4F65-3EFBADE65D1B}"/>
              </a:ext>
            </a:extLst>
          </p:cNvPr>
          <p:cNvSpPr/>
          <p:nvPr/>
        </p:nvSpPr>
        <p:spPr>
          <a:xfrm>
            <a:off x="3543300" y="6045200"/>
            <a:ext cx="381000" cy="254000"/>
          </a:xfrm>
          <a:prstGeom prst="rightArrow">
            <a:avLst/>
          </a:prstGeom>
          <a:solidFill>
            <a:srgbClr val="0D1C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C9CC116-4765-6EDC-FFF6-CB73F5E20268}"/>
              </a:ext>
            </a:extLst>
          </p:cNvPr>
          <p:cNvSpPr/>
          <p:nvPr/>
        </p:nvSpPr>
        <p:spPr>
          <a:xfrm>
            <a:off x="4025900" y="5943600"/>
            <a:ext cx="1778000" cy="457200"/>
          </a:xfrm>
          <a:prstGeom prst="roundRect">
            <a:avLst/>
          </a:prstGeom>
          <a:solidFill>
            <a:srgbClr val="0D6B5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OTP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F6CED61-F135-DF37-C2E8-AFB100BB31E7}"/>
              </a:ext>
            </a:extLst>
          </p:cNvPr>
          <p:cNvSpPr/>
          <p:nvPr/>
        </p:nvSpPr>
        <p:spPr>
          <a:xfrm>
            <a:off x="5905500" y="6045200"/>
            <a:ext cx="381000" cy="254000"/>
          </a:xfrm>
          <a:prstGeom prst="rightArrow">
            <a:avLst/>
          </a:prstGeom>
          <a:solidFill>
            <a:srgbClr val="0D1C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A1F2D01-7107-6F4F-2D47-9CAAFEE77D2E}"/>
              </a:ext>
            </a:extLst>
          </p:cNvPr>
          <p:cNvSpPr/>
          <p:nvPr/>
        </p:nvSpPr>
        <p:spPr>
          <a:xfrm>
            <a:off x="6388100" y="5943600"/>
            <a:ext cx="1778000" cy="457200"/>
          </a:xfrm>
          <a:prstGeom prst="roundRect">
            <a:avLst/>
          </a:prstGeom>
          <a:solidFill>
            <a:srgbClr val="6B3A7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E3CF1A77-1753-17E6-76E1-93885AB1A963}"/>
              </a:ext>
            </a:extLst>
          </p:cNvPr>
          <p:cNvSpPr/>
          <p:nvPr/>
        </p:nvSpPr>
        <p:spPr>
          <a:xfrm>
            <a:off x="8267700" y="6045200"/>
            <a:ext cx="381000" cy="254000"/>
          </a:xfrm>
          <a:prstGeom prst="rightArrow">
            <a:avLst/>
          </a:prstGeom>
          <a:solidFill>
            <a:srgbClr val="0D1C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F2EB785-FA72-B7CF-1DA8-35EC157BC202}"/>
              </a:ext>
            </a:extLst>
          </p:cNvPr>
          <p:cNvSpPr/>
          <p:nvPr/>
        </p:nvSpPr>
        <p:spPr>
          <a:xfrm>
            <a:off x="8750300" y="5943600"/>
            <a:ext cx="1778000" cy="457200"/>
          </a:xfrm>
          <a:prstGeom prst="roundRect">
            <a:avLst/>
          </a:prstGeom>
          <a:solidFill>
            <a:srgbClr val="C44E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DPR Upload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C7D08D5-F61E-35B7-000A-730E5269D3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60"/>
          <a:stretch>
            <a:fillRect/>
          </a:stretch>
        </p:blipFill>
        <p:spPr>
          <a:xfrm>
            <a:off x="6172200" y="4590067"/>
            <a:ext cx="2286000" cy="12057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endPos="0" dist="5000" dir="5400000" sy="-100000" algn="bl" rotWithShape="0"/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394EACB-AA58-3551-40A6-E589A90557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49" t="2380" r="-291" b="2180"/>
          <a:stretch>
            <a:fillRect/>
          </a:stretch>
        </p:blipFill>
        <p:spPr>
          <a:xfrm>
            <a:off x="8648700" y="4532916"/>
            <a:ext cx="2089473" cy="12057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endPos="0" dist="5000" dir="5400000" sy="-100000" algn="bl" rotWithShape="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B51ABC1-F5E4-E49E-6E77-B280CD2FF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494" y="4358011"/>
            <a:ext cx="1928812" cy="14377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endPos="0" dist="5000" dir="5400000" sy="-100000" algn="bl" rotWithShape="0"/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B01D019-5147-A9CE-868F-57118F5BFB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8008" y="4585259"/>
            <a:ext cx="1929384" cy="121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11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0D567D-273A-2A9B-FD90-5226D24A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B0590C-95B3-F049-BA98-6F929C751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ACA63-88AB-FB62-01CE-716E3833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Key Features: Audit &amp; Dashboard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995F63-C036-5210-4F90-6D26AEC4B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710BA9E-A940-A006-097A-4EAC0A802D33}"/>
              </a:ext>
            </a:extLst>
          </p:cNvPr>
          <p:cNvSpPr txBox="1"/>
          <p:nvPr/>
        </p:nvSpPr>
        <p:spPr>
          <a:xfrm>
            <a:off x="640080" y="2549817"/>
            <a:ext cx="533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1973EB"/>
                </a:solidFill>
              </a:rPr>
              <a:t>Degree Audit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6CE80-39C3-C0EF-2C20-477BCF29D861}"/>
              </a:ext>
            </a:extLst>
          </p:cNvPr>
          <p:cNvSpPr txBox="1"/>
          <p:nvPr/>
        </p:nvSpPr>
        <p:spPr>
          <a:xfrm>
            <a:off x="640080" y="3184817"/>
            <a:ext cx="5334000" cy="342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/>
              <a:t>Every requirement block with
satisfaction status
Double-counting enforced correctly
In-progress course tracking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06B71-DE50-BEF9-DE1F-75F8478D53F1}"/>
              </a:ext>
            </a:extLst>
          </p:cNvPr>
          <p:cNvSpPr txBox="1"/>
          <p:nvPr/>
        </p:nvSpPr>
        <p:spPr>
          <a:xfrm>
            <a:off x="6355080" y="2549817"/>
            <a:ext cx="533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25C8A2"/>
                </a:solidFill>
              </a:rPr>
              <a:t>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9D4E5-1E98-C51A-7652-FF87085B4261}"/>
              </a:ext>
            </a:extLst>
          </p:cNvPr>
          <p:cNvSpPr txBox="1"/>
          <p:nvPr/>
        </p:nvSpPr>
        <p:spPr>
          <a:xfrm>
            <a:off x="6355080" y="3184817"/>
            <a:ext cx="5334000" cy="342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/>
              <a:t>Progress bars per category
Graduation term estimate
At-a-glance status overview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0B2941-33A6-DFA7-18DB-09430C327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99317"/>
            <a:ext cx="2568913" cy="16702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2AABE8-FCF4-2092-7C0B-A91F7857E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304" y="4522824"/>
            <a:ext cx="5015696" cy="233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76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6DA681-6550-DB96-3FDE-C945A74D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F059E-E0EC-3A72-2658-53F6E007A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 sz="3700"/>
              <a:t>Key Features: Degree Plan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51885-6AF3-5665-F092-BBA21217D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r>
              <a:rPr lang="en-US"/>
              <a:t>Interactive semester-by-semester plan
Add, move, and remove courses with notes
Auto-suggest fills up to 4 future semesters
Prerequisite chain validation across semesters
UDGE 60-unit timing rule enforced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3CC270-755E-4847-D1F0-65837721B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572" y="3105728"/>
            <a:ext cx="4375829" cy="37522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CDE364-919C-0A09-CE7D-D5A7DFD511A2}"/>
              </a:ext>
            </a:extLst>
          </p:cNvPr>
          <p:cNvSpPr txBox="1"/>
          <p:nvPr/>
        </p:nvSpPr>
        <p:spPr>
          <a:xfrm>
            <a:off x="11815763" y="5943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548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AB0268-3427-1A3C-FD7F-AB4EA87E0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6C401A-DCEC-B068-0F78-66F52093E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FC2C1E-960B-BB1C-8476-DC99F26C3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Team Roles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D14E2D-D899-399B-C3E7-16B495CD2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BEABBA8-C054-692C-E49D-708FCA905153}"/>
              </a:ext>
            </a:extLst>
          </p:cNvPr>
          <p:cNvSpPr txBox="1"/>
          <p:nvPr/>
        </p:nvSpPr>
        <p:spPr>
          <a:xfrm>
            <a:off x="11815763" y="5943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2585D8-6C28-A985-FCC3-DFEC02F08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83425"/>
              </p:ext>
            </p:extLst>
          </p:nvPr>
        </p:nvGraphicFramePr>
        <p:xfrm>
          <a:off x="1270000" y="2786380"/>
          <a:ext cx="9652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834310855"/>
                    </a:ext>
                  </a:extLst>
                </a:gridCol>
                <a:gridCol w="7112000">
                  <a:extLst>
                    <a:ext uri="{9D8B030D-6E8A-4147-A177-3AD203B41FA5}">
                      <a16:colId xmlns:a16="http://schemas.microsoft.com/office/drawing/2014/main" val="16245992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Member</a:t>
                      </a:r>
                    </a:p>
                  </a:txBody>
                  <a:tcPr anchor="ctr">
                    <a:solidFill>
                      <a:srgbClr val="0D1C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>
                    <a:solidFill>
                      <a:srgbClr val="0D1C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0889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Manan Bhuva</a:t>
                      </a:r>
                    </a:p>
                  </a:txBody>
                  <a:tcPr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D1C3B"/>
                          </a:solidFill>
                        </a:rPr>
                        <a:t>Full-Stack: DB schema, engines, DPR import, AJAX degree plan</a:t>
                      </a:r>
                    </a:p>
                  </a:txBody>
                  <a:tcPr anchor="ctr">
                    <a:solidFill>
                      <a:srgbClr val="F5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01457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Zeel Kukadiya</a:t>
                      </a:r>
                    </a:p>
                  </a:txBody>
                  <a:tcPr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D1C3B"/>
                          </a:solidFill>
                        </a:rPr>
                        <a:t>Database &amp; Integration: catalog data, requirement config, email SMTP</a:t>
                      </a:r>
                    </a:p>
                  </a:txBody>
                  <a:tcPr anchor="ctr">
                    <a:solidFill>
                      <a:srgbClr val="F5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664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Urvish Devani</a:t>
                      </a:r>
                    </a:p>
                  </a:txBody>
                  <a:tcPr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D1C3B"/>
                          </a:solidFill>
                        </a:rPr>
                        <a:t>Frontend &amp; Research: 18 HTML templates, Tailwind, wireframes</a:t>
                      </a:r>
                    </a:p>
                  </a:txBody>
                  <a:tcPr anchor="ctr">
                    <a:solidFill>
                      <a:srgbClr val="F5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41852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Rudrakumar Khunt</a:t>
                      </a:r>
                    </a:p>
                  </a:txBody>
                  <a:tcPr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D1C3B"/>
                          </a:solidFill>
                        </a:rPr>
                        <a:t>Docs &amp; Deployment: report, README, UML/ER diagrams, testing</a:t>
                      </a:r>
                    </a:p>
                  </a:txBody>
                  <a:tcPr anchor="ctr">
                    <a:solidFill>
                      <a:srgbClr val="F5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579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017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39841D-03B5-B448-FA24-9BBD9ECF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050D0D-770A-6FEB-07CA-863E622D8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7487F-F632-7996-0F31-80F06C44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Testing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B5C53D-4532-C6D2-D50A-126052823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345FC8-136D-B92D-2549-174684A97627}"/>
              </a:ext>
            </a:extLst>
          </p:cNvPr>
          <p:cNvSpPr txBox="1"/>
          <p:nvPr/>
        </p:nvSpPr>
        <p:spPr>
          <a:xfrm>
            <a:off x="11815763" y="5943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646E-78EB-717E-6815-BCABBE341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3566160"/>
          </a:xfrm>
        </p:spPr>
        <p:txBody>
          <a:bodyPr>
            <a:normAutofit/>
          </a:bodyPr>
          <a:lstStyle/>
          <a:p>
            <a:r>
              <a:rPr lang="en-US" sz="1600" dirty="0"/>
              <a:t>18 functional test cases — all Pass
Covers: signup, OTP flows, DPR upload, prerequisite validation, auto-suggest, UDGE rule, audit, dashboard, password reset
Edge cases: double-counting, missing catalog courses, corequisite flags
Known limitation: no automated test suite; SQLite not production-scale</a:t>
            </a:r>
          </a:p>
        </p:txBody>
      </p:sp>
    </p:spTree>
    <p:extLst>
      <p:ext uri="{BB962C8B-B14F-4D97-AF65-F5344CB8AC3E}">
        <p14:creationId xmlns:p14="http://schemas.microsoft.com/office/powerpoint/2010/main" val="3764209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77C9D-53BF-2E74-C8CB-22F8A7D1D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5E9318-0AD6-0FBA-8EB6-C237072BB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ECDA6-8642-35CA-6CEB-398AC539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Future Work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76851F-A1EB-50AB-3F2F-9FA2B46E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4D23928-B89C-DB09-BBFA-DA9FCB3C732A}"/>
              </a:ext>
            </a:extLst>
          </p:cNvPr>
          <p:cNvSpPr txBox="1"/>
          <p:nvPr/>
        </p:nvSpPr>
        <p:spPr>
          <a:xfrm>
            <a:off x="11815763" y="5943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FDB4CC-7DF3-E386-AD11-17CA77A99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3566160"/>
          </a:xfrm>
        </p:spPr>
        <p:txBody>
          <a:bodyPr>
            <a:normAutofit/>
          </a:bodyPr>
          <a:lstStyle/>
          <a:p>
            <a:r>
              <a:rPr lang="en-US" sz="1600" dirty="0"/>
              <a:t>Live CSUN Catalog API integration
Mobile responsiveness
Schedule conflict detection (day/time)
Advisor collaboration portal
GPA &amp; grade tracking
Multi-university / multi-program support</a:t>
            </a:r>
          </a:p>
        </p:txBody>
      </p:sp>
    </p:spTree>
    <p:extLst>
      <p:ext uri="{BB962C8B-B14F-4D97-AF65-F5344CB8AC3E}">
        <p14:creationId xmlns:p14="http://schemas.microsoft.com/office/powerpoint/2010/main" val="672590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269C0-2323-8D45-B057-A3F149075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CE2CBA-49BD-57E1-AC17-3F8BD1027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C2F1C-AA28-C424-0B42-290F13D49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Demo Video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0F8E25-5B79-DA36-366E-49185B6BE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C66ED9E-C622-1131-C85D-0B6D8009D62E}"/>
              </a:ext>
            </a:extLst>
          </p:cNvPr>
          <p:cNvSpPr txBox="1"/>
          <p:nvPr/>
        </p:nvSpPr>
        <p:spPr>
          <a:xfrm>
            <a:off x="11815763" y="5943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E31FDA-9DCD-4D24-5AE4-AE40501C9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008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erial view of a highway near the ocean">
            <a:extLst>
              <a:ext uri="{FF2B5EF4-FFF2-40B4-BE49-F238E27FC236}">
                <a16:creationId xmlns:a16="http://schemas.microsoft.com/office/drawing/2014/main" id="{D61AEC8C-99A7-D789-CDCB-7BF451B955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33" b="13167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26A219-7C73-B9BC-71F3-9968B120C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892948" cy="342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608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F05E5C7-9675-5E4A-8AD7-6173DAE2230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6ed1efe-06a1-49c8-be34-0317a9238e2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963</TotalTime>
  <Words>485</Words>
  <Application>Microsoft Macintosh PowerPoint</Application>
  <PresentationFormat>Widescreen</PresentationFormat>
  <Paragraphs>68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Grandview Display</vt:lpstr>
      <vt:lpstr>Times New Roman</vt:lpstr>
      <vt:lpstr>DashVTI</vt:lpstr>
      <vt:lpstr>Gradmate COMP 491: Senior Project II</vt:lpstr>
      <vt:lpstr>The Problem</vt:lpstr>
      <vt:lpstr>What is Gradmate?</vt:lpstr>
      <vt:lpstr>Architecture Overview</vt:lpstr>
      <vt:lpstr>Tech Stack</vt:lpstr>
      <vt:lpstr>Key Features: Auth &amp; Onboarding</vt:lpstr>
      <vt:lpstr>Key Features: Audit &amp; Dashboard</vt:lpstr>
      <vt:lpstr>Key Features: Degree Plan</vt:lpstr>
      <vt:lpstr>Team Roles</vt:lpstr>
      <vt:lpstr>Testing</vt:lpstr>
      <vt:lpstr>Future Work</vt:lpstr>
      <vt:lpstr>Demo Video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Manan Bhuva</dc:creator>
  <cp:lastModifiedBy>Manan Bhuva</cp:lastModifiedBy>
  <cp:revision>3</cp:revision>
  <dcterms:created xsi:type="dcterms:W3CDTF">2026-05-04T02:37:57Z</dcterms:created>
  <dcterms:modified xsi:type="dcterms:W3CDTF">2026-05-04T23:28:38Z</dcterms:modified>
</cp:coreProperties>
</file>